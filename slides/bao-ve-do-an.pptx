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FFFF"/>
                </a:solidFill>
                <a:latin typeface="Calibri"/>
              </a:defRPr>
            </a:pPr>
            <a:r>
              <a:t>ĐỒ ÁN TỐT NGHIỆP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THIẾT KẾ HỆ THỐNG QUẢN LÝ PHƯƠNG TIỆN RA/VÀO</a:t>
            </a:r>
            <a:br/>
            <a:r>
              <a:t>CƠ SỞ GIÁO DỤC ĐÀO TẠO</a:t>
            </a:r>
            <a:br/>
            <a:r>
              <a:t>THÔNG QUA NHẬN DIỆN BIỂN SỐ XE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Calibri"/>
              </a:defRPr>
            </a:pPr>
            <a:r>
              <a:t>Sinh viên:  Hà Văn Quang — 20210718  |  Nguyễn Hữu Cần — 20223882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114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Calibri"/>
              </a:defRPr>
            </a:pPr>
            <a:r>
              <a:t>Giảng viên hướng dẫn:  Nguyễn Tiến Dũng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029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ACCEE"/>
                </a:solidFill>
                <a:latin typeface="Calibri"/>
              </a:defRPr>
            </a:pPr>
            <a:r>
              <a:t>Đại học Bách khoa Hà Nội — Trường Công nghệ Thông tin và Truyền thông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760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ACCEE"/>
                </a:solidFill>
                <a:latin typeface="Calibri"/>
              </a:defRPr>
            </a:pPr>
            <a:r>
              <a:t>Tháng 4/2026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37160"/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ĐẶT VẤN ĐỀ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202020"/>
                </a:solidFill>
                <a:latin typeface="Calibri"/>
              </a:defRPr>
            </a:pPr>
            <a:r>
              <a:t>Thực trạng: Quản lý xe ra/vào tại cơ sở giáo dục quy mô lớn (ĐHBK HN) chủ yếu thủ công — chậm, dễ sai sót, khó thống kê</a:t>
            </a:r>
          </a:p>
          <a:p>
            <a:pPr>
              <a:spcAft>
                <a:spcPts val="600"/>
              </a:spcAft>
              <a:defRPr sz="2000">
                <a:solidFill>
                  <a:srgbClr val="20202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>
                <a:solidFill>
                  <a:srgbClr val="202020"/>
                </a:solidFill>
                <a:latin typeface="Calibri"/>
              </a:defRPr>
            </a:pPr>
            <a:r>
              <a:t>Nhu cầu:</a:t>
            </a:r>
          </a:p>
          <a:p>
            <a:pPr>
              <a:spcAft>
                <a:spcPts val="600"/>
              </a:spcAft>
              <a:defRPr sz="2000">
                <a:solidFill>
                  <a:srgbClr val="202020"/>
                </a:solidFill>
                <a:latin typeface="Calibri"/>
              </a:defRPr>
            </a:pPr>
            <a:r>
              <a:t>  • Kiểm soát tự động phương tiện ra/vào qua nhận diện biển số</a:t>
            </a:r>
          </a:p>
          <a:p>
            <a:pPr>
              <a:spcAft>
                <a:spcPts val="600"/>
              </a:spcAft>
              <a:defRPr sz="2000">
                <a:solidFill>
                  <a:srgbClr val="202020"/>
                </a:solidFill>
                <a:latin typeface="Calibri"/>
              </a:defRPr>
            </a:pPr>
            <a:r>
              <a:t>  • Quản lý tài khoản xe (đăng ký, tạm, lạ), tính phí tự động</a:t>
            </a:r>
          </a:p>
          <a:p>
            <a:pPr>
              <a:spcAft>
                <a:spcPts val="600"/>
              </a:spcAft>
              <a:defRPr sz="2000">
                <a:solidFill>
                  <a:srgbClr val="202020"/>
                </a:solidFill>
                <a:latin typeface="Calibri"/>
              </a:defRPr>
            </a:pPr>
            <a:r>
              <a:t>  • Thống kê lưu lượng realtime trên dashboard</a:t>
            </a:r>
          </a:p>
          <a:p>
            <a:pPr>
              <a:spcAft>
                <a:spcPts val="600"/>
              </a:spcAft>
              <a:defRPr sz="2000">
                <a:solidFill>
                  <a:srgbClr val="20202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>
                <a:solidFill>
                  <a:srgbClr val="202020"/>
                </a:solidFill>
                <a:latin typeface="Calibri"/>
              </a:defRPr>
            </a:pPr>
            <a:r>
              <a:t>Giải pháp đề xuất:</a:t>
            </a:r>
          </a:p>
          <a:p>
            <a:pPr>
              <a:spcAft>
                <a:spcPts val="600"/>
              </a:spcAft>
              <a:defRPr sz="2000">
                <a:solidFill>
                  <a:srgbClr val="202020"/>
                </a:solidFill>
                <a:latin typeface="Calibri"/>
              </a:defRPr>
            </a:pPr>
            <a:r>
              <a:t>  • Hệ thống AI nhận diện biển số VN (1 hàng + 2 hàng) kết hợp web platform</a:t>
            </a:r>
          </a:p>
          <a:p>
            <a:pPr>
              <a:spcAft>
                <a:spcPts val="600"/>
              </a:spcAft>
              <a:defRPr sz="2000">
                <a:solidFill>
                  <a:srgbClr val="202020"/>
                </a:solidFill>
                <a:latin typeface="Calibri"/>
              </a:defRPr>
            </a:pPr>
            <a:r>
              <a:t>  • Pipeline: Camera → AI Engine → Backend API → Dashboard giám sát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37160"/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MỤC TIÊU &amp; PHẠM VI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3366"/>
                </a:solidFill>
                <a:latin typeface="Calibri"/>
              </a:defRPr>
            </a:pPr>
            <a:r>
              <a:t>Mục tiêu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202020"/>
                </a:solidFill>
                <a:latin typeface="Calibri"/>
              </a:defRPr>
            </a:pPr>
            <a:r>
              <a:t>Xây dựng prototype E2E: Camera → AI → Backend → Dashboard</a:t>
            </a:r>
          </a:p>
          <a:p>
            <a:pPr>
              <a:spcAft>
                <a:spcPts val="600"/>
              </a:spcAft>
              <a:defRPr sz="1800">
                <a:solidFill>
                  <a:srgbClr val="202020"/>
                </a:solidFill>
                <a:latin typeface="Calibri"/>
              </a:defRPr>
            </a:pPr>
            <a:r>
              <a:t>Nhận diện biển số xe Việt Nam (1 hàng + 2 hàng)</a:t>
            </a:r>
          </a:p>
          <a:p>
            <a:pPr>
              <a:spcAft>
                <a:spcPts val="600"/>
              </a:spcAft>
              <a:defRPr sz="1800">
                <a:solidFill>
                  <a:srgbClr val="202020"/>
                </a:solidFill>
                <a:latin typeface="Calibri"/>
              </a:defRPr>
            </a:pPr>
            <a:r>
              <a:t>Quản lý tài khoản, giao dịch, barrier tự động</a:t>
            </a:r>
          </a:p>
          <a:p>
            <a:pPr>
              <a:spcAft>
                <a:spcPts val="600"/>
              </a:spcAft>
              <a:defRPr sz="1800">
                <a:solidFill>
                  <a:srgbClr val="202020"/>
                </a:solidFill>
                <a:latin typeface="Calibri"/>
              </a:defRPr>
            </a:pPr>
            <a:r>
              <a:t>Thống kê realtime trên trình duyệt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3366"/>
                </a:solidFill>
                <a:latin typeface="Calibri"/>
              </a:defRPr>
            </a:pPr>
            <a:r>
              <a:t>Phạm vi prototype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82880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202020"/>
                </a:solidFill>
                <a:latin typeface="Calibri"/>
              </a:defRPr>
            </a:pPr>
            <a:r>
              <a:t>1-2 camera (cấu hình IN/OUT)</a:t>
            </a:r>
          </a:p>
          <a:p>
            <a:pPr>
              <a:spcAft>
                <a:spcPts val="600"/>
              </a:spcAft>
              <a:defRPr sz="1800">
                <a:solidFill>
                  <a:srgbClr val="202020"/>
                </a:solidFill>
                <a:latin typeface="Calibri"/>
              </a:defRPr>
            </a:pPr>
            <a:r>
              <a:t>Xe máy + ô tô (4 class COCO)</a:t>
            </a:r>
          </a:p>
          <a:p>
            <a:pPr>
              <a:spcAft>
                <a:spcPts val="600"/>
              </a:spcAft>
              <a:defRPr sz="1800">
                <a:solidFill>
                  <a:srgbClr val="202020"/>
                </a:solidFill>
                <a:latin typeface="Calibri"/>
              </a:defRPr>
            </a:pPr>
            <a:r>
              <a:t>SQLite (dev) / PostgreSQL (production)</a:t>
            </a:r>
          </a:p>
          <a:p>
            <a:pPr>
              <a:spcAft>
                <a:spcPts val="600"/>
              </a:spcAft>
              <a:defRPr sz="1800">
                <a:solidFill>
                  <a:srgbClr val="202020"/>
                </a:solidFill>
                <a:latin typeface="Calibri"/>
              </a:defRPr>
            </a:pPr>
            <a:r>
              <a:t>Docker Compose deployment (3 services)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37160"/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NỘI DUNG TRÌNH BÀY</a:t>
            </a:r>
          </a:p>
        </p:txBody>
      </p:sp>
      <p:sp>
        <p:nvSpPr>
          <p:cNvPr id="3" name="Oval 2"/>
          <p:cNvSpPr/>
          <p:nvPr/>
        </p:nvSpPr>
        <p:spPr>
          <a:xfrm>
            <a:off x="1828800" y="1463040"/>
            <a:ext cx="548640" cy="548640"/>
          </a:xfrm>
          <a:prstGeom prst="ellipse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15087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02020"/>
                </a:solidFill>
                <a:latin typeface="Calibri"/>
              </a:defRPr>
            </a:pPr>
            <a:r>
              <a:t>Tổng quan kiến trúc hệ thống</a:t>
            </a:r>
          </a:p>
        </p:txBody>
      </p:sp>
      <p:sp>
        <p:nvSpPr>
          <p:cNvPr id="5" name="Oval 4"/>
          <p:cNvSpPr/>
          <p:nvPr/>
        </p:nvSpPr>
        <p:spPr>
          <a:xfrm>
            <a:off x="1828800" y="2377440"/>
            <a:ext cx="548640" cy="548640"/>
          </a:xfrm>
          <a:prstGeom prst="ellipse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0" y="24231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02020"/>
                </a:solidFill>
                <a:latin typeface="Calibri"/>
              </a:defRPr>
            </a:pPr>
            <a:r>
              <a:t>Phân tích yêu cầu và thiết kế</a:t>
            </a:r>
          </a:p>
        </p:txBody>
      </p:sp>
      <p:sp>
        <p:nvSpPr>
          <p:cNvPr id="7" name="Oval 6"/>
          <p:cNvSpPr/>
          <p:nvPr/>
        </p:nvSpPr>
        <p:spPr>
          <a:xfrm>
            <a:off x="1828800" y="3291840"/>
            <a:ext cx="548640" cy="548640"/>
          </a:xfrm>
          <a:prstGeom prst="ellipse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33375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02020"/>
                </a:solidFill>
                <a:latin typeface="Calibri"/>
              </a:defRPr>
            </a:pPr>
            <a:r>
              <a:t>Xây dựng các module</a:t>
            </a:r>
          </a:p>
        </p:txBody>
      </p:sp>
      <p:sp>
        <p:nvSpPr>
          <p:cNvPr id="9" name="Oval 8"/>
          <p:cNvSpPr/>
          <p:nvPr/>
        </p:nvSpPr>
        <p:spPr>
          <a:xfrm>
            <a:off x="1828800" y="4206240"/>
            <a:ext cx="548640" cy="548640"/>
          </a:xfrm>
          <a:prstGeom prst="ellipse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4251959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02020"/>
                </a:solidFill>
                <a:latin typeface="Calibri"/>
              </a:defRPr>
            </a:pPr>
            <a:r>
              <a:t>Thực nghiệm và đánh giá</a:t>
            </a:r>
          </a:p>
        </p:txBody>
      </p:sp>
      <p:sp>
        <p:nvSpPr>
          <p:cNvPr id="11" name="Oval 10"/>
          <p:cNvSpPr/>
          <p:nvPr/>
        </p:nvSpPr>
        <p:spPr>
          <a:xfrm>
            <a:off x="1828800" y="5120640"/>
            <a:ext cx="548640" cy="548640"/>
          </a:xfrm>
          <a:prstGeom prst="ellipse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0" y="5166359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02020"/>
                </a:solidFill>
                <a:latin typeface="Calibri"/>
              </a:defRPr>
            </a:pPr>
            <a:r>
              <a:t>Kết luận và hướng phát triển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37160"/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1. KIẾN TRÚC TỔNG THỂ 4 LỚP</a:t>
            </a:r>
          </a:p>
        </p:txBody>
      </p:sp>
      <p:pic>
        <p:nvPicPr>
          <p:cNvPr id="3" name="Picture 2" descr="hinh-01-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188720"/>
            <a:ext cx="9144000" cy="2222318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029200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666666"/>
                </a:solidFill>
                <a:latin typeface="Calibri"/>
              </a:defRPr>
            </a:pPr>
            <a:r>
              <a:t>Lớp 1: Đầu vào (Video / Camera IP)  →  Lớp 2: AI Engine (YOLO + SORT + OCR)</a:t>
            </a:r>
          </a:p>
          <a:p>
            <a:pPr>
              <a:spcAft>
                <a:spcPts val="600"/>
              </a:spcAft>
              <a:defRPr sz="1600">
                <a:solidFill>
                  <a:srgbClr val="666666"/>
                </a:solidFill>
                <a:latin typeface="Calibri"/>
              </a:defRPr>
            </a:pPr>
            <a:r>
              <a:t>Lớp 3: Backend (FastAPI + PostgreSQL, 18 API)  →  Lớp 4: Dashboard (React + TS)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37160"/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CÔNG NGHỆ SỬ DỤNG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371600" y="1280160"/>
          <a:ext cx="91440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3200400"/>
                <a:gridCol w="3657600"/>
              </a:tblGrid>
              <a:tr h="5080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Lĩnh vực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Công nghệ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Chi tiết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Vehicle Detection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YOLOv8 Nano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COCO pretrained, 6.3MB, 3.2M params</a:t>
                      </a:r>
                    </a:p>
                  </a:txBody>
                  <a:tcPr/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Object Tracking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SORT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Kalman Filter + Hungarian matching</a:t>
                      </a:r>
                    </a:p>
                  </a:txBody>
                  <a:tcPr/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Plate Detection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LP_detector.pt (YOLOv5)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Custom, 41MB, 32ms/ảnh</a:t>
                      </a:r>
                    </a:p>
                  </a:txBody>
                  <a:tcPr/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OCR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LP_ocr.pt (YOLOv5)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Char-level + 2-row clustering</a:t>
                      </a:r>
                    </a:p>
                  </a:txBody>
                  <a:tcPr/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Backend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FastAPI + SQLAlchemy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Python, async, 18 endpoints</a:t>
                      </a:r>
                    </a:p>
                  </a:txBody>
                  <a:tcPr/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Database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PostgreSQL / SQLite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10 bảng, ACID</a:t>
                      </a:r>
                    </a:p>
                  </a:txBody>
                  <a:tcPr/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Frontend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React + TypeScript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Vite, 1,205 dòng</a:t>
                      </a:r>
                    </a:p>
                  </a:txBody>
                  <a:tcPr/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Deployment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Docker Compose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3 services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37160"/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KỊCH BẢN VẬN HÀNH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8000"/>
                </a:solidFill>
                <a:latin typeface="Calibri"/>
              </a:defRPr>
            </a:pPr>
            <a:r>
              <a:t>Xe VÀO cổng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37360"/>
            <a:ext cx="5486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t>Camera → AI detect xe + biển số → OCR</a:t>
            </a:r>
          </a:p>
          <a:p>
            <a:pPr>
              <a:spcAft>
                <a:spcPts val="6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t>Server tra cứu account:</a:t>
            </a:r>
          </a:p>
          <a:p>
            <a:pPr>
              <a:spcAft>
                <a:spcPts val="6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t>  • Đã đăng ký → Barrier OPEN, trừ 2,000 VND</a:t>
            </a:r>
          </a:p>
          <a:p>
            <a:pPr>
              <a:spcAft>
                <a:spcPts val="6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t>  • Biển lạ → Tạo account tạm, cấp 100,000 VND, OPEN</a:t>
            </a:r>
          </a:p>
          <a:p>
            <a:pPr>
              <a:spcAft>
                <a:spcPts val="6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t>Dashboard hiển thị event realtime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9319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CC0000"/>
                </a:solidFill>
                <a:latin typeface="Calibri"/>
              </a:defRPr>
            </a:pPr>
            <a:r>
              <a:t>Xe RA cổng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48056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t>Camera → AI detect → Server kiểm tra:</a:t>
            </a:r>
          </a:p>
          <a:p>
            <a:pPr>
              <a:spcAft>
                <a:spcPts val="6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t>  • Đã đăng ký → Barrier OPEN</a:t>
            </a:r>
          </a:p>
          <a:p>
            <a:pPr>
              <a:spcAft>
                <a:spcPts val="6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t>  • Account tạm → Barrier HOLD, cần xác minh</a:t>
            </a:r>
          </a:p>
          <a:p>
            <a:pPr>
              <a:spcAft>
                <a:spcPts val="6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t>Nhân viên verify trên Dashboard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0" y="1280160"/>
          <a:ext cx="50292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371600"/>
                <a:gridCol w="1828800"/>
              </a:tblGrid>
              <a:tr h="653142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Status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Direction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Barrier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registered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OPEN</a:t>
                      </a:r>
                    </a:p>
                  </a:txBody>
                  <a:tcPr/>
                </a:tc>
              </a:tr>
              <a:tr h="653142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registered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OUT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OPEN</a:t>
                      </a:r>
                    </a:p>
                  </a:txBody>
                  <a:tcPr/>
                </a:tc>
              </a:tr>
              <a:tr h="653142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temporary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OPEN</a:t>
                      </a:r>
                    </a:p>
                  </a:txBody>
                  <a:tcPr/>
                </a:tc>
              </a:tr>
              <a:tr h="653142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temporary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OUT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HOLD+Verify</a:t>
                      </a:r>
                    </a:p>
                  </a:txBody>
                  <a:tcPr/>
                </a:tc>
              </a:tr>
              <a:tr h="653142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unknown (mới)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OPEN (auto tạm)</a:t>
                      </a:r>
                    </a:p>
                  </a:txBody>
                  <a:tcPr/>
                </a:tc>
              </a:tr>
              <a:tr h="653148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(mặc định)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any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HOLD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37160"/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2. THIẾT KẾ CƠ SỞ DỮ LIỆU — 10 BẢNG</a:t>
            </a:r>
          </a:p>
        </p:txBody>
      </p:sp>
      <p:pic>
        <p:nvPicPr>
          <p:cNvPr id="3" name="Picture 2" descr="hinh-02-e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0972800" cy="643915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37160"/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LUỒNG XỬ LÝ CREATE_EVENT — 7 BƯỚC ATOMIC</a:t>
            </a:r>
          </a:p>
        </p:txBody>
      </p:sp>
      <p:pic>
        <p:nvPicPr>
          <p:cNvPr id="3" name="Picture 2" descr="hinh-03-sequ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6400800" cy="721722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32320" y="1280160"/>
            <a:ext cx="4572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t>1. Auto-create camera</a:t>
            </a:r>
          </a:p>
          <a:p>
            <a:pPr>
              <a:spcAft>
                <a:spcPts val="6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t>2. Tạo VehicleEvent</a:t>
            </a:r>
          </a:p>
          <a:p>
            <a:pPr>
              <a:spcAft>
                <a:spcPts val="6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t>3. Normalize plate text</a:t>
            </a:r>
          </a:p>
          <a:p>
            <a:pPr>
              <a:spcAft>
                <a:spcPts val="6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t>4. Tạo PlateRead</a:t>
            </a:r>
          </a:p>
          <a:p>
            <a:pPr>
              <a:spcAft>
                <a:spcPts val="6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t>5. Auto-create Account (100k VND)</a:t>
            </a:r>
          </a:p>
          <a:p>
            <a:pPr>
              <a:spcAft>
                <a:spcPts val="6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t>6. decide_barrier() — 6 nhánh</a:t>
            </a:r>
          </a:p>
          <a:p>
            <a:pPr>
              <a:spcAft>
                <a:spcPts val="6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t>7. Tạo BarrierAction + Transaction</a:t>
            </a:r>
          </a:p>
          <a:p>
            <a:pPr>
              <a:spcAft>
                <a:spcPts val="600"/>
              </a:spcAft>
              <a:defRPr sz="1700">
                <a:solidFill>
                  <a:srgbClr val="20202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t>Atomic: nếu 1 bước fail → rollback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37160"/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3.1. PHÁT HIỆN PHƯƠNG TIỆN — YOLOv8 Nano</a:t>
            </a:r>
          </a:p>
        </p:txBody>
      </p:sp>
      <p:pic>
        <p:nvPicPr>
          <p:cNvPr id="3" name="Picture 2" descr="hinh-04-det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5943600" cy="658535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583680" y="128016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t>Model: YOLOv8 Nano (3.2M params, 6.3MB)</a:t>
            </a:r>
          </a:p>
          <a:p>
            <a:pPr>
              <a:spcAft>
                <a:spcPts val="6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t>Input: Video frame (numpy array)</a:t>
            </a:r>
          </a:p>
          <a:p>
            <a:pPr>
              <a:spcAft>
                <a:spcPts val="6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t>Output: Bounding box + score + class</a:t>
            </a:r>
          </a:p>
          <a:p>
            <a:pPr>
              <a:spcAft>
                <a:spcPts val="600"/>
              </a:spcAft>
              <a:defRPr sz="1700">
                <a:solidFill>
                  <a:srgbClr val="20202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t>Lọc 4 class COCO:</a:t>
            </a:r>
          </a:p>
          <a:p>
            <a:pPr>
              <a:spcAft>
                <a:spcPts val="6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t>  • car, motorcycle, bus, truck</a:t>
            </a:r>
          </a:p>
          <a:p>
            <a:pPr>
              <a:spcAft>
                <a:spcPts val="600"/>
              </a:spcAft>
              <a:defRPr sz="1700">
                <a:solidFill>
                  <a:srgbClr val="20202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t>Confidence threshold: 0.5</a:t>
            </a:r>
          </a:p>
          <a:p>
            <a:pPr>
              <a:spcAft>
                <a:spcPts val="6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t>File: vehicle_detector.py (61 dòng)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37160"/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3.1. THEO DÕI ĐỐI TƯỢNG — SORT TRACKER</a:t>
            </a:r>
          </a:p>
        </p:txBody>
      </p:sp>
      <p:pic>
        <p:nvPicPr>
          <p:cNvPr id="3" name="Picture 2" descr="hinh-04-det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5943600" cy="658535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583680" y="128016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t>Thuật toán: SORT (Bewley et al., 2016)</a:t>
            </a:r>
          </a:p>
          <a:p>
            <a:pPr>
              <a:spcAft>
                <a:spcPts val="600"/>
              </a:spcAft>
              <a:defRPr sz="1700">
                <a:solidFill>
                  <a:srgbClr val="20202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t>Kalman Filter 7 chiều:</a:t>
            </a:r>
          </a:p>
          <a:p>
            <a:pPr>
              <a:spcAft>
                <a:spcPts val="6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t>  [x, y, area, ratio, vx, vy, va]</a:t>
            </a:r>
          </a:p>
          <a:p>
            <a:pPr>
              <a:spcAft>
                <a:spcPts val="600"/>
              </a:spcAft>
              <a:defRPr sz="1700">
                <a:solidFill>
                  <a:srgbClr val="20202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t>Hungarian matching bằng IoU</a:t>
            </a:r>
          </a:p>
          <a:p>
            <a:pPr>
              <a:spcAft>
                <a:spcPts val="6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t>Params: max_age=1, min_hits=3</a:t>
            </a:r>
          </a:p>
          <a:p>
            <a:pPr>
              <a:spcAft>
                <a:spcPts val="600"/>
              </a:spcAft>
              <a:defRPr sz="1700">
                <a:solidFill>
                  <a:srgbClr val="20202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t>Kết quả: Track ID ổn định qua frames</a:t>
            </a:r>
          </a:p>
          <a:p>
            <a:pPr>
              <a:spcAft>
                <a:spcPts val="6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t>File: sort_tracker.py (244 dòng)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37160"/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3.2. PHÁT HIỆN BIỂN SỐ — LP_DETECTOR</a:t>
            </a:r>
          </a:p>
        </p:txBody>
      </p:sp>
      <p:pic>
        <p:nvPicPr>
          <p:cNvPr id="3" name="Picture 2" descr="hinh-04-det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5943600" cy="658535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58368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Calibri"/>
              </a:defRPr>
            </a:pPr>
            <a:r>
              <a:t>Benchmark 2 model (20 ảnh):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920240"/>
          <a:ext cx="50292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914400"/>
                <a:gridCol w="914400"/>
                <a:gridCol w="914400"/>
              </a:tblGrid>
              <a:tr h="54864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Model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Rate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Tốc độ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Size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LP_detector (YOLOv5) ← CHỌN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32ms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41MB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number_plate (YOLOv8)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48ms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50MB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583680" y="384048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t>LP_detector nhanh hơn 33%</a:t>
            </a:r>
          </a:p>
          <a:p>
            <a:pPr>
              <a:spcAft>
                <a:spcPts val="6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t>Nhẹ hơn 18%</a:t>
            </a:r>
          </a:p>
          <a:p>
            <a:pPr>
              <a:spcAft>
                <a:spcPts val="6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t>File: plate_detector.py (82 dòng)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37160"/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3.2. NHẬN DẠNG KÝ TỰ — OCR PIPELINE</a:t>
            </a:r>
          </a:p>
        </p:txBody>
      </p:sp>
      <p:pic>
        <p:nvPicPr>
          <p:cNvPr id="3" name="Picture 2" descr="hinh-04-det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5486400" cy="607878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217920" y="11887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Calibri"/>
              </a:defRPr>
            </a:pPr>
            <a:r>
              <a:t>Thuật toán 2-row clustering: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73736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02020"/>
                </a:solidFill>
                <a:latin typeface="Calibri"/>
              </a:defRPr>
            </a:pPr>
            <a:r>
              <a:t>1. Detect từng ký tự (YOLOv5 char-level)</a:t>
            </a:r>
          </a:p>
          <a:p>
            <a:pPr>
              <a:spcAft>
                <a:spcPts val="600"/>
              </a:spcAft>
              <a:defRPr sz="1600">
                <a:solidFill>
                  <a:srgbClr val="202020"/>
                </a:solidFill>
                <a:latin typeface="Calibri"/>
              </a:defRPr>
            </a:pPr>
            <a:r>
              <a:t>2. Sort by Y → tìm gap lớn nhất</a:t>
            </a:r>
          </a:p>
          <a:p>
            <a:pPr>
              <a:spcAft>
                <a:spcPts val="600"/>
              </a:spcAft>
              <a:defRPr sz="1600">
                <a:solidFill>
                  <a:srgbClr val="202020"/>
                </a:solidFill>
                <a:latin typeface="Calibri"/>
              </a:defRPr>
            </a:pPr>
            <a:r>
              <a:t>3. Gap &gt; 30% avg height → tách 2 hàng</a:t>
            </a:r>
          </a:p>
          <a:p>
            <a:pPr>
              <a:spcAft>
                <a:spcPts val="600"/>
              </a:spcAft>
              <a:defRPr sz="1600">
                <a:solidFill>
                  <a:srgbClr val="202020"/>
                </a:solidFill>
                <a:latin typeface="Calibri"/>
              </a:defRPr>
            </a:pPr>
            <a:r>
              <a:t>4. Mỗi hàng sort L→R → nối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36576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70C0"/>
                </a:solidFill>
                <a:latin typeface="Calibri"/>
              </a:defRPr>
            </a:pPr>
            <a:r>
              <a:t>Post-processing (MỚI):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420624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02020"/>
                </a:solidFill>
                <a:latin typeface="Calibri"/>
              </a:defRPr>
            </a:pPr>
            <a:r>
              <a:t>Char mapping: O→0, I→1, S→5, B→8 (position-aware)</a:t>
            </a:r>
          </a:p>
          <a:p>
            <a:pPr>
              <a:spcAft>
                <a:spcPts val="600"/>
              </a:spcAft>
              <a:defRPr sz="1600">
                <a:solidFill>
                  <a:srgbClr val="202020"/>
                </a:solidFill>
                <a:latin typeface="Calibri"/>
              </a:defRPr>
            </a:pPr>
            <a:r>
              <a:t>Regex validate: 4 patterns biển VN</a:t>
            </a:r>
          </a:p>
          <a:p>
            <a:pPr>
              <a:spcAft>
                <a:spcPts val="600"/>
              </a:spcAft>
              <a:defRPr sz="1600">
                <a:solidFill>
                  <a:srgbClr val="202020"/>
                </a:solidFill>
                <a:latin typeface="Calibri"/>
              </a:defRPr>
            </a:pPr>
            <a:r>
              <a:t>33 unit tests pass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37160"/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3.3. BACKEND API SERVER</a:t>
            </a:r>
          </a:p>
        </p:txBody>
      </p:sp>
      <p:pic>
        <p:nvPicPr>
          <p:cNvPr id="3" name="Picture 2" descr="hinh-08-ap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5029200" cy="272152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669280" y="118872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Calibri"/>
              </a:defRPr>
            </a:pPr>
            <a:r>
              <a:t>FastAPI + SQLAlchemy + PostgreSQL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0" y="1828800"/>
          <a:ext cx="59436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2286000"/>
                <a:gridCol w="2743200"/>
              </a:tblGrid>
              <a:tr h="4572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Method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Endpoint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Chức năng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POST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/api/v1/events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Tạo event + barrier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/api/v1/events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Danh sách events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/api/v1/accounts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Quản lý tài khoản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/api/v1/stats/realtime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Thống kê realtime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POST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/barrier-actions/verify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Xác minh barrier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...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... (18 endpoints)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0" y="530352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02020"/>
                </a:solidFill>
                <a:latin typeface="Calibri"/>
              </a:defRPr>
            </a:pPr>
            <a:r>
              <a:t>56/56 unit tests pass (1.48s)</a:t>
            </a:r>
          </a:p>
          <a:p>
            <a:pPr>
              <a:spcAft>
                <a:spcPts val="600"/>
              </a:spcAft>
              <a:defRPr sz="1600">
                <a:solidFill>
                  <a:srgbClr val="202020"/>
                </a:solidFill>
                <a:latin typeface="Calibri"/>
              </a:defRPr>
            </a:pPr>
            <a:r>
              <a:t>11 files, 1,644 dòng Python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37160"/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3.3. DASHBOARD GIÁM SÁT</a:t>
            </a:r>
          </a:p>
        </p:txBody>
      </p:sp>
      <p:pic>
        <p:nvPicPr>
          <p:cNvPr id="3" name="Picture 2" descr="hinh-09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5669280" cy="3020857"/>
          </a:xfrm>
          <a:prstGeom prst="rect">
            <a:avLst/>
          </a:prstGeom>
        </p:spPr>
      </p:pic>
      <p:pic>
        <p:nvPicPr>
          <p:cNvPr id="4" name="Picture 3" descr="hinh-10-accou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188720"/>
            <a:ext cx="5669280" cy="30149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30352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666666"/>
                </a:solidFill>
                <a:latin typeface="Calibri"/>
              </a:defRPr>
            </a:pPr>
            <a:r>
              <a:t>React + TypeScript (Vite) | 6 source files, 1,205 dòng | Realtime stats, Events, Accounts, Verify queue, Traffic stats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37160"/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3.3. SNAPSHOT BIỂN SỐ (MỚI)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202020"/>
                </a:solidFill>
                <a:latin typeface="Calibri"/>
              </a:defRPr>
            </a:pPr>
            <a:r>
              <a:t>Khi detect biển số thành công → crop vùng biển số + padding 15%</a:t>
            </a:r>
          </a:p>
          <a:p>
            <a:pPr>
              <a:spcAft>
                <a:spcPts val="600"/>
              </a:spcAft>
              <a:defRPr sz="2000">
                <a:solidFill>
                  <a:srgbClr val="202020"/>
                </a:solidFill>
                <a:latin typeface="Calibri"/>
              </a:defRPr>
            </a:pPr>
            <a:r>
              <a:t>Lưu PNG: {timestamp}_{plate}_{trackid}.png</a:t>
            </a:r>
          </a:p>
          <a:p>
            <a:pPr>
              <a:spcAft>
                <a:spcPts val="600"/>
              </a:spcAft>
              <a:defRPr sz="2000">
                <a:solidFill>
                  <a:srgbClr val="202020"/>
                </a:solidFill>
                <a:latin typeface="Calibri"/>
              </a:defRPr>
            </a:pPr>
            <a:r>
              <a:t>Backend serve static files: /static/snapshots/</a:t>
            </a:r>
          </a:p>
          <a:p>
            <a:pPr>
              <a:spcAft>
                <a:spcPts val="600"/>
              </a:spcAft>
              <a:defRPr sz="2000">
                <a:solidFill>
                  <a:srgbClr val="202020"/>
                </a:solidFill>
                <a:latin typeface="Calibri"/>
              </a:defRPr>
            </a:pPr>
            <a:r>
              <a:t>Dashboard hiển thị thumbnail (50×30px) bên cạnh event</a:t>
            </a:r>
          </a:p>
          <a:p>
            <a:pPr>
              <a:spcAft>
                <a:spcPts val="600"/>
              </a:spcAft>
              <a:defRPr sz="2000">
                <a:solidFill>
                  <a:srgbClr val="20202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>
                <a:solidFill>
                  <a:srgbClr val="202020"/>
                </a:solidFill>
                <a:latin typeface="Calibri"/>
              </a:defRPr>
            </a:pPr>
            <a:r>
              <a:t>Cấu hình qua env vars:</a:t>
            </a:r>
          </a:p>
          <a:p>
            <a:pPr>
              <a:spcAft>
                <a:spcPts val="600"/>
              </a:spcAft>
              <a:defRPr sz="2000">
                <a:solidFill>
                  <a:srgbClr val="202020"/>
                </a:solidFill>
                <a:latin typeface="Calibri"/>
              </a:defRPr>
            </a:pPr>
            <a:r>
              <a:t>  • SNAPSHOT_DIR (default: snapshots/)</a:t>
            </a:r>
          </a:p>
          <a:p>
            <a:pPr>
              <a:spcAft>
                <a:spcPts val="600"/>
              </a:spcAft>
              <a:defRPr sz="2000">
                <a:solidFill>
                  <a:srgbClr val="202020"/>
                </a:solidFill>
                <a:latin typeface="Calibri"/>
              </a:defRPr>
            </a:pPr>
            <a:r>
              <a:t>  • SNAPSHOT_PADDING (default: 0.15)</a:t>
            </a:r>
          </a:p>
          <a:p>
            <a:pPr>
              <a:spcAft>
                <a:spcPts val="600"/>
              </a:spcAft>
              <a:defRPr sz="2000">
                <a:solidFill>
                  <a:srgbClr val="202020"/>
                </a:solidFill>
                <a:latin typeface="Calibri"/>
              </a:defRPr>
            </a:pPr>
            <a:r>
              <a:t>  • ENABLE_SNAPSHOT (default: true)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37160"/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TÍCH HỢP &amp; DEPLOYMENT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202020"/>
                </a:solidFill>
                <a:latin typeface="Calibri"/>
              </a:defRPr>
            </a:pPr>
            <a:r>
              <a:t>Docker Compose — 3 services:</a:t>
            </a:r>
          </a:p>
          <a:p>
            <a:pPr>
              <a:spcAft>
                <a:spcPts val="600"/>
              </a:spcAft>
              <a:defRPr sz="1800">
                <a:solidFill>
                  <a:srgbClr val="20202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800">
                <a:solidFill>
                  <a:srgbClr val="202020"/>
                </a:solidFill>
                <a:latin typeface="Calibri"/>
              </a:defRPr>
            </a:pPr>
            <a:r>
              <a:t>  1. postgres:16  (database)</a:t>
            </a:r>
          </a:p>
          <a:p>
            <a:pPr>
              <a:spcAft>
                <a:spcPts val="600"/>
              </a:spcAft>
              <a:defRPr sz="1800">
                <a:solidFill>
                  <a:srgbClr val="202020"/>
                </a:solidFill>
                <a:latin typeface="Calibri"/>
              </a:defRPr>
            </a:pPr>
            <a:r>
              <a:t>     Port 5432, volume persistent</a:t>
            </a:r>
          </a:p>
          <a:p>
            <a:pPr>
              <a:spcAft>
                <a:spcPts val="600"/>
              </a:spcAft>
              <a:defRPr sz="1800">
                <a:solidFill>
                  <a:srgbClr val="20202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800">
                <a:solidFill>
                  <a:srgbClr val="202020"/>
                </a:solidFill>
                <a:latin typeface="Calibri"/>
              </a:defRPr>
            </a:pPr>
            <a:r>
              <a:t>  2. backend  (FastAPI)</a:t>
            </a:r>
          </a:p>
          <a:p>
            <a:pPr>
              <a:spcAft>
                <a:spcPts val="600"/>
              </a:spcAft>
              <a:defRPr sz="1800">
                <a:solidFill>
                  <a:srgbClr val="202020"/>
                </a:solidFill>
                <a:latin typeface="Calibri"/>
              </a:defRPr>
            </a:pPr>
            <a:r>
              <a:t>     Port 8000, healthcheck, auto-migrate</a:t>
            </a:r>
          </a:p>
          <a:p>
            <a:pPr>
              <a:spcAft>
                <a:spcPts val="600"/>
              </a:spcAft>
              <a:defRPr sz="1800">
                <a:solidFill>
                  <a:srgbClr val="20202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800">
                <a:solidFill>
                  <a:srgbClr val="202020"/>
                </a:solidFill>
                <a:latin typeface="Calibri"/>
              </a:defRPr>
            </a:pPr>
            <a:r>
              <a:t>  3. dashboard  (React + Vite)</a:t>
            </a:r>
          </a:p>
          <a:p>
            <a:pPr>
              <a:spcAft>
                <a:spcPts val="600"/>
              </a:spcAft>
              <a:defRPr sz="1800">
                <a:solidFill>
                  <a:srgbClr val="202020"/>
                </a:solidFill>
                <a:latin typeface="Calibri"/>
              </a:defRPr>
            </a:pPr>
            <a:r>
              <a:t>     Port 5173, CORS enabled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28016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202020"/>
                </a:solidFill>
                <a:latin typeface="Calibri"/>
              </a:defRPr>
            </a:pPr>
            <a:r>
              <a:t>E2E Data Flow:</a:t>
            </a:r>
          </a:p>
          <a:p>
            <a:pPr>
              <a:spcAft>
                <a:spcPts val="600"/>
              </a:spcAft>
              <a:defRPr sz="1800">
                <a:solidFill>
                  <a:srgbClr val="20202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800">
                <a:solidFill>
                  <a:srgbClr val="202020"/>
                </a:solidFill>
                <a:latin typeface="Calibri"/>
              </a:defRPr>
            </a:pPr>
            <a:r>
              <a:t>  Video file / Camera IP</a:t>
            </a:r>
          </a:p>
          <a:p>
            <a:pPr>
              <a:spcAft>
                <a:spcPts val="600"/>
              </a:spcAft>
              <a:defRPr sz="1800">
                <a:solidFill>
                  <a:srgbClr val="202020"/>
                </a:solidFill>
                <a:latin typeface="Calibri"/>
              </a:defRPr>
            </a:pPr>
            <a:r>
              <a:t>       ↓</a:t>
            </a:r>
          </a:p>
          <a:p>
            <a:pPr>
              <a:spcAft>
                <a:spcPts val="600"/>
              </a:spcAft>
              <a:defRPr sz="1800">
                <a:solidFill>
                  <a:srgbClr val="202020"/>
                </a:solidFill>
                <a:latin typeface="Calibri"/>
              </a:defRPr>
            </a:pPr>
            <a:r>
              <a:t>  AI Engine (Python, local)</a:t>
            </a:r>
          </a:p>
          <a:p>
            <a:pPr>
              <a:spcAft>
                <a:spcPts val="600"/>
              </a:spcAft>
              <a:defRPr sz="1800">
                <a:solidFill>
                  <a:srgbClr val="202020"/>
                </a:solidFill>
                <a:latin typeface="Calibri"/>
              </a:defRPr>
            </a:pPr>
            <a:r>
              <a:t>       ↓  POST /api/v1/events</a:t>
            </a:r>
          </a:p>
          <a:p>
            <a:pPr>
              <a:spcAft>
                <a:spcPts val="600"/>
              </a:spcAft>
              <a:defRPr sz="1800">
                <a:solidFill>
                  <a:srgbClr val="202020"/>
                </a:solidFill>
                <a:latin typeface="Calibri"/>
              </a:defRPr>
            </a:pPr>
            <a:r>
              <a:t>  Backend :8000 (Docker)</a:t>
            </a:r>
          </a:p>
          <a:p>
            <a:pPr>
              <a:spcAft>
                <a:spcPts val="600"/>
              </a:spcAft>
              <a:defRPr sz="1800">
                <a:solidFill>
                  <a:srgbClr val="202020"/>
                </a:solidFill>
                <a:latin typeface="Calibri"/>
              </a:defRPr>
            </a:pPr>
            <a:r>
              <a:t>       ↓  fetch API</a:t>
            </a:r>
          </a:p>
          <a:p>
            <a:pPr>
              <a:spcAft>
                <a:spcPts val="600"/>
              </a:spcAft>
              <a:defRPr sz="1800">
                <a:solidFill>
                  <a:srgbClr val="202020"/>
                </a:solidFill>
                <a:latin typeface="Calibri"/>
              </a:defRPr>
            </a:pPr>
            <a:r>
              <a:t>  Dashboard :5173 (Browser)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37160"/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4. BỘ DỮ LIỆU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80160"/>
          <a:ext cx="54864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371600"/>
                <a:gridCol w="2286000"/>
              </a:tblGrid>
              <a:tr h="4572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Dataset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Số lượng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Mô tả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VNLP one_row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19,086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Biển 1 hàng (ô tô)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VNLP two_rows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12,618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Biển 2 hàng (ô tô)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VNLP xe_may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5,593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Biển 2 hàng (xe máy)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VNLP tổng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37,297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Video test (VN)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1 video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trungdinh22-demo.mp4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300 frames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600×800, 10fps, 30s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4" name="Picture 3" descr="hinh-11-vis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188720"/>
            <a:ext cx="5486400" cy="699516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37160"/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4. ĐÁNH GIÁ OCR — TRƯỚC VÀ SAU FINE-TUNE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666666"/>
                </a:solidFill>
                <a:latin typeface="Calibri"/>
              </a:defRPr>
            </a:pPr>
            <a:r>
              <a:t>3 configs so sánh: Baseline → Fine-tuned detector → + PaddleOCR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828800"/>
          <a:ext cx="109728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  <a:gridCol w="3200400"/>
                <a:gridCol w="3200400"/>
              </a:tblGrid>
              <a:tr h="5334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Baseline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Finetuned v8n + YOLO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+ PaddleOCR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Detection 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89.2%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99.9%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99.9%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Exact match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37.8%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68.7%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92.0% ★★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Char accuracy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53.8%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82.4%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96.5%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Test size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3,731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3,731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500*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Throughput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14.7 img/s 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17.9 img/s 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1.13 img/s CPU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3035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Calibri"/>
              </a:defRPr>
            </a:pPr>
            <a:r>
              <a:t>* PaddleOCR eval trên 500 ảnh; full 3,731 đang chạy (kỳ vọng ~90%)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760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08000"/>
                </a:solidFill>
                <a:latin typeface="Calibri"/>
              </a:defRPr>
            </a:pPr>
            <a:r>
              <a:t>→ Cải thiện +54.2pp: Baseline 37.8% → Finetuned+PaddleOCR 92.0%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37160"/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CẢI THIỆN BIỂN SỐ — FINE-TUNE YOLOv8n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Calibri"/>
              </a:defRPr>
            </a:pPr>
            <a:r>
              <a:t>Phát hiện bottleneck: LP_detector, không phải OCR char recognition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37360"/>
            <a:ext cx="5486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02020"/>
                </a:solidFill>
                <a:latin typeface="Calibri"/>
              </a:defRPr>
            </a:pPr>
            <a:r>
              <a:t>Phase 01: Thực nghiệm ground truth bbox:</a:t>
            </a:r>
          </a:p>
          <a:p>
            <a:pPr>
              <a:spcAft>
                <a:spcPts val="600"/>
              </a:spcAft>
              <a:defRPr sz="1600">
                <a:solidFill>
                  <a:srgbClr val="202020"/>
                </a:solidFill>
                <a:latin typeface="Calibri"/>
              </a:defRPr>
            </a:pPr>
            <a:r>
              <a:t>  • Dùng GT bbox → OCR thẳng → 69.8% exact match</a:t>
            </a:r>
          </a:p>
          <a:p>
            <a:pPr>
              <a:spcAft>
                <a:spcPts val="600"/>
              </a:spcAft>
              <a:defRPr sz="1600">
                <a:solidFill>
                  <a:srgbClr val="202020"/>
                </a:solidFill>
                <a:latin typeface="Calibri"/>
              </a:defRPr>
            </a:pPr>
            <a:r>
              <a:t>  • Kết luận: ceiling của LP_ocr ~70%</a:t>
            </a:r>
          </a:p>
          <a:p>
            <a:pPr>
              <a:spcAft>
                <a:spcPts val="600"/>
              </a:spcAft>
              <a:defRPr sz="1600">
                <a:solidFill>
                  <a:srgbClr val="202020"/>
                </a:solidFill>
                <a:latin typeface="Calibri"/>
              </a:defRPr>
            </a:pPr>
            <a:r>
              <a:t>  • Bottleneck là detection, không phải OCR</a:t>
            </a:r>
          </a:p>
          <a:p>
            <a:pPr>
              <a:spcAft>
                <a:spcPts val="600"/>
              </a:spcAft>
              <a:defRPr sz="1600">
                <a:solidFill>
                  <a:srgbClr val="20202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202020"/>
                </a:solidFill>
                <a:latin typeface="Calibri"/>
              </a:defRPr>
            </a:pPr>
            <a:r>
              <a:t>→ Giải pháp: Fine-tune plate detector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70C0"/>
                </a:solidFill>
                <a:latin typeface="Calibri"/>
              </a:defRPr>
            </a:pPr>
            <a:r>
              <a:t>Training Details: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66344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02020"/>
                </a:solidFill>
                <a:latin typeface="Calibri"/>
              </a:defRPr>
            </a:pPr>
            <a:r>
              <a:t>Base model: YOLOv8n</a:t>
            </a:r>
          </a:p>
          <a:p>
            <a:pPr>
              <a:spcAft>
                <a:spcPts val="600"/>
              </a:spcAft>
              <a:defRPr sz="1600">
                <a:solidFill>
                  <a:srgbClr val="202020"/>
                </a:solidFill>
                <a:latin typeface="Calibri"/>
              </a:defRPr>
            </a:pPr>
            <a:r>
              <a:t>Training data: 29,837 ảnh VNLP</a:t>
            </a:r>
          </a:p>
          <a:p>
            <a:pPr>
              <a:spcAft>
                <a:spcPts val="600"/>
              </a:spcAft>
              <a:defRPr sz="1600">
                <a:solidFill>
                  <a:srgbClr val="202020"/>
                </a:solidFill>
                <a:latin typeface="Calibri"/>
              </a:defRPr>
            </a:pPr>
            <a:r>
              <a:t>Epochs: 3  |  GPU: GTX 1650</a:t>
            </a:r>
          </a:p>
          <a:p>
            <a:pPr>
              <a:spcAft>
                <a:spcPts val="600"/>
              </a:spcAft>
              <a:defRPr sz="1600">
                <a:solidFill>
                  <a:srgbClr val="202020"/>
                </a:solidFill>
                <a:latin typeface="Calibri"/>
              </a:defRPr>
            </a:pPr>
            <a:r>
              <a:t>mAP50: 99.48%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8872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8000"/>
                </a:solidFill>
                <a:latin typeface="Calibri"/>
              </a:defRPr>
            </a:pPr>
            <a:r>
              <a:t>Kết quả: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0" y="1828800"/>
          <a:ext cx="530352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2286000"/>
              </a:tblGrid>
              <a:tr h="512064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Thử nghiệm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Exact match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Baseline LP_detector + YOLO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37.8%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Ground truth bbox (ceiling)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69.8%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Finetuned YOLOv8n + YOLO char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68.7%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Finetuned + PaddleOCR 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92.0%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0" y="457200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8000"/>
                </a:solidFill>
                <a:latin typeface="Calibri"/>
              </a:defRPr>
            </a:pPr>
            <a:r>
              <a:t>Finetuned + PaddleOCR vượt xa ceiling GT!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5120640"/>
            <a:ext cx="5303520" cy="1371600"/>
          </a:xfrm>
          <a:prstGeom prst="roundRect">
            <a:avLst/>
          </a:prstGeom>
          <a:solidFill>
            <a:srgbClr val="E2EFDA"/>
          </a:solidFill>
          <a:ln>
            <a:solidFill>
              <a:srgbClr val="008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>
              <a:defRPr sz="1500" b="1">
                <a:solidFill>
                  <a:srgbClr val="008000"/>
                </a:solidFill>
                <a:latin typeface="Calibri"/>
              </a:defRPr>
            </a:pPr>
            <a:r>
              <a:t>+32.7pp exact match — kết quả quan trọng nhất sprint 21/04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37160"/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KẾT QUẢ E2E VIDEO TEST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Calibri"/>
              </a:defRPr>
            </a:pPr>
            <a:r>
              <a:t>Lần 1 — 300 frames (toàn bộ video):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37360"/>
            <a:ext cx="5486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02020"/>
                </a:solidFill>
                <a:latin typeface="Calibri"/>
              </a:defRPr>
            </a:pPr>
            <a:r>
              <a:t>2 biển unique: 36H82613, 14K117970</a:t>
            </a:r>
          </a:p>
          <a:p>
            <a:pPr>
              <a:spcAft>
                <a:spcPts val="600"/>
              </a:spcAft>
              <a:defRPr sz="1600">
                <a:solidFill>
                  <a:srgbClr val="202020"/>
                </a:solidFill>
                <a:latin typeface="Calibri"/>
              </a:defRPr>
            </a:pPr>
            <a:r>
              <a:t>23 raw → 2 unique events | FPS: 2.1 | 140s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92608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Calibri"/>
              </a:defRPr>
            </a:pPr>
            <a:r>
              <a:t>Lần 2 — 101 frames (14/04/2026):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474720"/>
            <a:ext cx="5486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02020"/>
                </a:solidFill>
                <a:latin typeface="Calibri"/>
              </a:defRPr>
            </a:pPr>
            <a:r>
              <a:t>1 biển unique: 36H82613 (car, consistent)</a:t>
            </a:r>
          </a:p>
          <a:p>
            <a:pPr>
              <a:spcAft>
                <a:spcPts val="600"/>
              </a:spcAft>
              <a:defRPr sz="1600">
                <a:solidFill>
                  <a:srgbClr val="202020"/>
                </a:solidFill>
                <a:latin typeface="Calibri"/>
              </a:defRPr>
            </a:pPr>
            <a:r>
              <a:t>6 raw → 2 unique events | FPS: 1.6 | 62.1s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75488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8C00"/>
                </a:solidFill>
                <a:latin typeface="Calibri"/>
              </a:defRPr>
            </a:pPr>
            <a:r>
              <a:t>Known Issues: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303520"/>
            <a:ext cx="5486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02020"/>
                </a:solidFill>
                <a:latin typeface="Calibri"/>
              </a:defRPr>
            </a:pPr>
            <a:r>
              <a:t>Duplicate events do SORT tạo track mới</a:t>
            </a:r>
          </a:p>
          <a:p>
            <a:pPr>
              <a:spcAft>
                <a:spcPts val="600"/>
              </a:spcAft>
              <a:defRPr sz="1600">
                <a:solidFill>
                  <a:srgbClr val="202020"/>
                </a:solidFill>
                <a:latin typeface="Calibri"/>
              </a:defRPr>
            </a:pPr>
            <a:r>
              <a:t>FPS thấp trên CPU (1.6-2.1) — cần GPU</a:t>
            </a:r>
          </a:p>
        </p:txBody>
      </p:sp>
      <p:pic>
        <p:nvPicPr>
          <p:cNvPr id="9" name="Picture 8" descr="hinh-11-vis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188720"/>
            <a:ext cx="5486400" cy="699516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37160"/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TỔNG HỢP KIỂM THỬ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0" y="1280160"/>
          <a:ext cx="100584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743200"/>
                <a:gridCol w="4114800"/>
              </a:tblGrid>
              <a:tr h="5080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Hạng mục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Kết quả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Chi tiết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Backend Unit Tests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56/56 pass 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1.48s, pytest</a:t>
                      </a:r>
                    </a:p>
                  </a:txBody>
                  <a:tcPr/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OCR Post-process Tests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33/33 pass 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2.41s, pytest</a:t>
                      </a:r>
                    </a:p>
                  </a:txBody>
                  <a:tcPr/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API Smoke 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5/5 pass 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health, POST, GET events/accounts/stats</a:t>
                      </a:r>
                    </a:p>
                  </a:txBody>
                  <a:tcPr/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Dashboard API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7/7 pass 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events, stats, accounts, barrier, traffic</a:t>
                      </a:r>
                    </a:p>
                  </a:txBody>
                  <a:tcPr/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Barrier Logic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8 cases pass 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6 nhánh quyết định</a:t>
                      </a:r>
                    </a:p>
                  </a:txBody>
                  <a:tcPr/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AI Engine → Backend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1/1 pass 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Pipeline detect + send event</a:t>
                      </a:r>
                    </a:p>
                  </a:txBody>
                  <a:tcPr/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Dashboard Code Review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2 bugs fixed 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Pagination + double-fetch</a:t>
                      </a:r>
                    </a:p>
                  </a:txBody>
                  <a:tcPr/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Known Issues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1/3 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Duplicate events, FPS cần GPU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37160"/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THỐNG KÊ SỐ LIỆU TỔNG HỢP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80160"/>
          <a:ext cx="50292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4600"/>
                <a:gridCol w="2514600"/>
              </a:tblGrid>
              <a:tr h="4572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Hạng mục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Số liệu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Tổng dòng code Python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4,835+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Tổng dòng code TypeScript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1,205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API endpoints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18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Database tables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Unit tests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146 (100% pass)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AI models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4 files (138.3 MB)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Dataset VNLP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37,297 ảnh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Git commits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75+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Docker services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0" y="1280160"/>
          <a:ext cx="50292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4600"/>
                <a:gridCol w="2514600"/>
              </a:tblGrid>
              <a:tr h="653142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Kết quả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Plate detection rate (finetuned)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100% (500 ảnh)</a:t>
                      </a:r>
                    </a:p>
                  </a:txBody>
                  <a:tcPr/>
                </a:tc>
              </a:tr>
              <a:tr h="653142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OCR exact match (best)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92.0% PaddleOCR</a:t>
                      </a:r>
                    </a:p>
                  </a:txBody>
                  <a:tcPr/>
                </a:tc>
              </a:tr>
              <a:tr h="653142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OCR char accuracy (best)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96.5%</a:t>
                      </a:r>
                    </a:p>
                  </a:txBody>
                  <a:tcPr/>
                </a:tc>
              </a:tr>
              <a:tr h="653142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E2E FPS (CPU)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1.6–2.1</a:t>
                      </a:r>
                    </a:p>
                  </a:txBody>
                  <a:tcPr/>
                </a:tc>
              </a:tr>
              <a:tr h="653142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Backend tests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101/101 pass</a:t>
                      </a:r>
                    </a:p>
                  </a:txBody>
                  <a:tcPr/>
                </a:tc>
              </a:tr>
              <a:tr h="653148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AI engine tests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45/45 pass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37160"/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5. KẾT QUẢ ĐẠT ĐƯỢC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900">
                <a:solidFill>
                  <a:srgbClr val="202020"/>
                </a:solidFill>
                <a:latin typeface="Calibri"/>
              </a:defRPr>
            </a:pPr>
            <a:r>
              <a:t>✅  Pipeline E2E hoạt động: Video → AI Engine → Backend → Dashboard</a:t>
            </a:r>
          </a:p>
          <a:p>
            <a:pPr>
              <a:spcAft>
                <a:spcPts val="600"/>
              </a:spcAft>
              <a:defRPr sz="1900">
                <a:solidFill>
                  <a:srgbClr val="202020"/>
                </a:solidFill>
                <a:latin typeface="Calibri"/>
              </a:defRPr>
            </a:pPr>
            <a:r>
              <a:t>✅  Nhận diện biển số VN 1 hàng + 2 hàng (YOLOv5 char-level + gap clustering)</a:t>
            </a:r>
          </a:p>
          <a:p>
            <a:pPr>
              <a:spcAft>
                <a:spcPts val="600"/>
              </a:spcAft>
              <a:defRPr sz="1900">
                <a:solidFill>
                  <a:srgbClr val="202020"/>
                </a:solidFill>
                <a:latin typeface="Calibri"/>
              </a:defRPr>
            </a:pPr>
            <a:r>
              <a:t>✅  Backend 18 API endpoints + barrier rules 6 nhánh (101/101 tests pass)</a:t>
            </a:r>
          </a:p>
          <a:p>
            <a:pPr>
              <a:spcAft>
                <a:spcPts val="600"/>
              </a:spcAft>
              <a:defRPr sz="1900">
                <a:solidFill>
                  <a:srgbClr val="202020"/>
                </a:solidFill>
                <a:latin typeface="Calibri"/>
              </a:defRPr>
            </a:pPr>
            <a:r>
              <a:t>✅  Dashboard realtime monitoring (React + TypeScript)</a:t>
            </a:r>
          </a:p>
          <a:p>
            <a:pPr>
              <a:spcAft>
                <a:spcPts val="600"/>
              </a:spcAft>
              <a:defRPr sz="1900">
                <a:solidFill>
                  <a:srgbClr val="202020"/>
                </a:solidFill>
                <a:latin typeface="Calibri"/>
              </a:defRPr>
            </a:pPr>
            <a:r>
              <a:t>✅  Fine-tune LP_detector + PaddleOCR → 92.0% exact match (+54.2pp baseline)</a:t>
            </a:r>
          </a:p>
          <a:p>
            <a:pPr>
              <a:spcAft>
                <a:spcPts val="600"/>
              </a:spcAft>
              <a:defRPr sz="1900">
                <a:solidFill>
                  <a:srgbClr val="202020"/>
                </a:solidFill>
                <a:latin typeface="Calibri"/>
              </a:defRPr>
            </a:pPr>
            <a:r>
              <a:t>✅  OCR post-processing: char mapping + regex validate (45/45 tests pass)</a:t>
            </a:r>
          </a:p>
          <a:p>
            <a:pPr>
              <a:spcAft>
                <a:spcPts val="600"/>
              </a:spcAft>
              <a:defRPr sz="1900">
                <a:solidFill>
                  <a:srgbClr val="202020"/>
                </a:solidFill>
                <a:latin typeface="Calibri"/>
              </a:defRPr>
            </a:pPr>
            <a:r>
              <a:t>✅  Snapshot crop biển số + hiển thị thumbnail trên dashboard</a:t>
            </a:r>
          </a:p>
          <a:p>
            <a:pPr>
              <a:spcAft>
                <a:spcPts val="600"/>
              </a:spcAft>
              <a:defRPr sz="1900">
                <a:solidFill>
                  <a:srgbClr val="202020"/>
                </a:solidFill>
                <a:latin typeface="Calibri"/>
              </a:defRPr>
            </a:pPr>
            <a:r>
              <a:t>✅  Docker Compose deployment (3 services: postgres + backend + dashboard)</a:t>
            </a:r>
          </a:p>
          <a:p>
            <a:pPr>
              <a:spcAft>
                <a:spcPts val="600"/>
              </a:spcAft>
              <a:defRPr sz="1900">
                <a:solidFill>
                  <a:srgbClr val="202020"/>
                </a:solidFill>
                <a:latin typeface="Calibri"/>
              </a:defRPr>
            </a:pPr>
            <a:r>
              <a:t>✅  Hướng dẫn chạy E2E chi tiết (7 files, hỗ trợ Linux/Mac + Windows)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37160"/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HẠN CHẾ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202020"/>
                </a:solidFill>
                <a:latin typeface="Calibri"/>
              </a:defRPr>
            </a:pPr>
            <a:r>
              <a:t>⚠  OCR accuracy thấp: 33.3% exact match — cần cải thiện model + post-processing</a:t>
            </a:r>
          </a:p>
          <a:p>
            <a:pPr>
              <a:spcAft>
                <a:spcPts val="600"/>
              </a:spcAft>
              <a:defRPr sz="2000">
                <a:solidFill>
                  <a:srgbClr val="202020"/>
                </a:solidFill>
                <a:latin typeface="Calibri"/>
              </a:defRPr>
            </a:pPr>
            <a:r>
              <a:t>⚠  FPS chậm trên CPU: 1.6-2.1 — chưa đáp ứng realtime, cần GPU</a:t>
            </a:r>
          </a:p>
          <a:p>
            <a:pPr>
              <a:spcAft>
                <a:spcPts val="600"/>
              </a:spcAft>
              <a:defRPr sz="2000">
                <a:solidFill>
                  <a:srgbClr val="202020"/>
                </a:solidFill>
                <a:latin typeface="Calibri"/>
              </a:defRPr>
            </a:pPr>
            <a:r>
              <a:t>⚠  Chỉ test trên 1 video biển VN — cần thêm video đa dạng</a:t>
            </a:r>
          </a:p>
          <a:p>
            <a:pPr>
              <a:spcAft>
                <a:spcPts val="600"/>
              </a:spcAft>
              <a:defRPr sz="2000">
                <a:solidFill>
                  <a:srgbClr val="202020"/>
                </a:solidFill>
                <a:latin typeface="Calibri"/>
              </a:defRPr>
            </a:pPr>
            <a:r>
              <a:t>⚠  Chưa full evaluation trên toàn bộ 37,297 ảnh VNLP</a:t>
            </a:r>
          </a:p>
          <a:p>
            <a:pPr>
              <a:spcAft>
                <a:spcPts val="600"/>
              </a:spcAft>
              <a:defRPr sz="2000">
                <a:solidFill>
                  <a:srgbClr val="202020"/>
                </a:solidFill>
                <a:latin typeface="Calibri"/>
              </a:defRPr>
            </a:pPr>
            <a:r>
              <a:t>⚠  Dashboard chưa test toàn diện trên browser (code review OK, cần manual test)</a:t>
            </a:r>
          </a:p>
          <a:p>
            <a:pPr>
              <a:spcAft>
                <a:spcPts val="600"/>
              </a:spcAft>
              <a:defRPr sz="2000">
                <a:solidFill>
                  <a:srgbClr val="202020"/>
                </a:solidFill>
                <a:latin typeface="Calibri"/>
              </a:defRPr>
            </a:pPr>
            <a:r>
              <a:t>⚠  Duplicate events khi SORT tạo track mới cho cùng biển số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37160"/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HƯỚNG PHÁT TRIỂN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8000"/>
                </a:solidFill>
                <a:latin typeface="Calibri"/>
              </a:defRPr>
            </a:pPr>
            <a:r>
              <a:t>Ngắn hạn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37360"/>
            <a:ext cx="3200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t>Full OCR eval (3,731+ ảnh)</a:t>
            </a:r>
          </a:p>
          <a:p>
            <a:pPr>
              <a:spcAft>
                <a:spcPts val="6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t>Regex + char mapping nâng accuracy</a:t>
            </a:r>
          </a:p>
          <a:p>
            <a:pPr>
              <a:spcAft>
                <a:spcPts val="6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t>Deduplicate by plate_text</a:t>
            </a:r>
          </a:p>
          <a:p>
            <a:pPr>
              <a:spcAft>
                <a:spcPts val="6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t>Test dashboard trên browser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0" y="11887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70C0"/>
                </a:solidFill>
                <a:latin typeface="Calibri"/>
              </a:defRPr>
            </a:pPr>
            <a:r>
              <a:t>Trung hạn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0" y="1737360"/>
            <a:ext cx="3200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t>GPU acceleration (10-15 FPS)</a:t>
            </a:r>
          </a:p>
          <a:p>
            <a:pPr>
              <a:spcAft>
                <a:spcPts val="6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t>Nhiều camera đồng thời</a:t>
            </a:r>
          </a:p>
          <a:p>
            <a:pPr>
              <a:spcAft>
                <a:spcPts val="6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t>WebSocket realtime push</a:t>
            </a:r>
          </a:p>
          <a:p>
            <a:pPr>
              <a:spcAft>
                <a:spcPts val="6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t>Cải thiện OCR: deblur, augment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11887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8C00"/>
                </a:solidFill>
                <a:latin typeface="Calibri"/>
              </a:defRPr>
            </a:pPr>
            <a:r>
              <a:t>Dài hạn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1737360"/>
            <a:ext cx="3200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t>Edge deploy (Jetson Nano)</a:t>
            </a:r>
          </a:p>
          <a:p>
            <a:pPr>
              <a:spcAft>
                <a:spcPts val="6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t>Quản lý đăng ký phương tiện</a:t>
            </a:r>
          </a:p>
          <a:p>
            <a:pPr>
              <a:spcAft>
                <a:spcPts val="6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t>Cảnh báo thông minh</a:t>
            </a:r>
          </a:p>
          <a:p>
            <a:pPr>
              <a:spcAft>
                <a:spcPts val="6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t>Perspective correction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Calibri"/>
              </a:defRPr>
            </a:pPr>
            <a:r>
              <a:t>CẢM ƠN THẦY/CÔ ĐÃ LẮNG NGHE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Calibri"/>
              </a:defRPr>
            </a:pPr>
            <a:r>
              <a:t>Q &amp;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5720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AACCEE"/>
                </a:solidFill>
                <a:latin typeface="Calibri"/>
              </a:defRPr>
            </a:pPr>
            <a:r>
              <a:t>Mã nguồn: github.com/ukelele0718/bienso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029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ACCEE"/>
                </a:solidFill>
                <a:latin typeface="Calibri"/>
              </a:defRPr>
            </a:pPr>
            <a:r>
              <a:t>Hà Văn Quang — 20210718  |  Nguyễn Hữu Cần — 20223882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