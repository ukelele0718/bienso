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THIẾT KẾ HỆ THỐNG QUẢN LÝ PHƯƠNG TIỆN RA/VÀO</a:t>
            </a:r>
            <a:br/>
            <a:r>
              <a:t>CƠ SỞ GIÁO DỤC ĐÀO TẠO</a:t>
            </a:r>
            <a:br/>
            <a:r>
              <a:t>THÔNG QUA NHẬN DIỆN BIỂN SỐ 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Sinh viên:  Hà Văn Quang — 20210718  |  Nguyễn Hữu Cần — 20223882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Giảng viên hướng dẫn:  Nguyễn Tiến Dũng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CCEE"/>
                </a:solidFill>
                <a:latin typeface="Calibri"/>
              </a:defRPr>
            </a:pPr>
            <a:r>
              <a:t>Đại học Bách khoa Hà Nội — Trường Công nghệ Thông tin và Truyền thông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CCEE"/>
                </a:solidFill>
                <a:latin typeface="Calibri"/>
              </a:defRPr>
            </a:pPr>
            <a:r>
              <a:t>Tháng 4/2026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ĐẶT VẤN ĐỀ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Thực trạng: Quản lý xe ra/vào tại cơ sở giáo dục quy mô lớn (ĐHBK HN) chủ yếu thủ công — chậm, dễ sai sót, khó thống kê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Nhu cầu: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  • Kiểm soát tự động phương tiện ra/vào qua nhận diện biển số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  • Quản lý tài khoản xe (đăng ký, tạm, lạ), tính phí tự động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  • Thống kê lưu lượng realtime trên dashboard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Giải pháp đề xuất: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  • Hệ thống AI nhận diện biển số VN (1 hàng + 2 hàng) kết hợp web platform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  • Pipeline: Camera → AI Engine → Backend API → Dashboard giám sát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MỤC TIÊU &amp; PHẠM 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Calibri"/>
              </a:defRPr>
            </a:pPr>
            <a: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Xây dựng prototype E2E: Camera → AI → Backend → Dashboard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Nhận diện biển số xe Việt Nam (1 hàng + 2 hàng)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Quản lý tài khoản, giao dịch, barrier tự động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Thống kê realtime trên trình duyệt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Calibri"/>
              </a:defRPr>
            </a:pPr>
            <a:r>
              <a:t>Phạm vi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1-2 camera (cấu hình IN/OUT)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Xe máy + ô tô (4 class COCO)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SQLite (dev) / PostgreSQL (production)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Docker Compose deployment (3 services)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NỘI DUNG TRÌNH BÀY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14630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508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02020"/>
                </a:solidFill>
                <a:latin typeface="Calibri"/>
              </a:defRPr>
            </a:pPr>
            <a:r>
              <a:t>Tổng quan kiến trúc hệ thống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23774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423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02020"/>
                </a:solidFill>
                <a:latin typeface="Calibri"/>
              </a:defRPr>
            </a:pPr>
            <a:r>
              <a:t>Phân tích yêu cầu và thiết kế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32918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337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02020"/>
                </a:solidFill>
                <a:latin typeface="Calibri"/>
              </a:defRPr>
            </a:pPr>
            <a:r>
              <a:t>Xây dựng các module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42062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25195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02020"/>
                </a:solidFill>
                <a:latin typeface="Calibri"/>
              </a:defRPr>
            </a:pPr>
            <a:r>
              <a:t>Thực nghiệm và đánh giá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512064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16635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02020"/>
                </a:solidFill>
                <a:latin typeface="Calibri"/>
              </a:defRPr>
            </a:pPr>
            <a:r>
              <a:t>Kết luận và hướng phát triển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1. KIẾN TRÚC TỔNG THỂ 4 LỚP</a:t>
            </a:r>
          </a:p>
        </p:txBody>
      </p:sp>
      <p:pic>
        <p:nvPicPr>
          <p:cNvPr id="3" name="Picture 2" descr="hinh-0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222231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Lớp 1: Đầu vào (Video / Camera IP)  →  Lớp 2: AI Engine (YOLO + SORT + OCR)</a:t>
            </a:r>
          </a:p>
          <a:p>
            <a:pPr>
              <a:spcAft>
                <a:spcPts val="6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Lớp 3: Backend (FastAPI + PostgreSQL, 18 API)  →  Lớp 4: Dashboard (React + 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CÔNG NGHỆ SỬ DỤNG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280160"/>
          <a:ext cx="9144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3657600"/>
              </a:tblGrid>
              <a:tr h="508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Lĩnh vực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Công nghệ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Chi tiết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Vehicle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YOLOv8 Nano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COCO pretrained, 6.3MB, 3.2M params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Object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Kalman Filter + Hungarian matching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Plate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LP_detector.pt (YOLOv5)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Custom, 41MB, 32ms/ảnh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LP_ocr.pt (YOLOv5)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Char-level + 2-row clustering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FastAPI + SQLAlchemy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Python, async, 18 endpoints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PostgreSQL / SQLite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10 bảng, ACID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React + 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Vite, 1,205 dòng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Docker Compose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 services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KỊCH BẢN VẬN HÀNH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8000"/>
                </a:solidFill>
                <a:latin typeface="Calibri"/>
              </a:defRPr>
            </a:pPr>
            <a:r>
              <a:t>Xe VÀO cổng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Camera → AI detect xe + biển số → OCR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Server tra cứu account: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  • Đã đăng ký → Barrier OPEN, trừ 2,000 VND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  • Biển lạ → Tạo account tạm, cấp 100,000 VND, OPEN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Dashboard hiển thị event realtime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C0000"/>
                </a:solidFill>
                <a:latin typeface="Calibri"/>
              </a:defRPr>
            </a:pPr>
            <a:r>
              <a:t>Xe RA cổng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Camera → AI detect → Server kiểm tra: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  • Đã đăng ký → Barrier OPEN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  • Account tạm → Barrier HOLD, cần xác minh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Nhân viên verify trên Dashboard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280160"/>
          <a:ext cx="5029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828800"/>
              </a:tblGrid>
              <a:tr h="65314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Barrier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registered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registered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temporary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temporary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HOLD+Verify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unknown (mới)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OPEN (auto tạm)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(mặc định)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HOLD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 THIẾT KẾ CƠ SỞ DỮ LIỆU — 10 BẢNG</a:t>
            </a:r>
          </a:p>
        </p:txBody>
      </p:sp>
      <p:pic>
        <p:nvPicPr>
          <p:cNvPr id="3" name="Picture 2" descr="hinh-02-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64391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LUỒNG XỬ LÝ CREATE_EVENT — 7 BƯỚC ATOMIC</a:t>
            </a:r>
          </a:p>
        </p:txBody>
      </p:sp>
      <p:pic>
        <p:nvPicPr>
          <p:cNvPr id="3" name="Picture 2" descr="hinh-03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400800" cy="72172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28016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1. Auto-create camera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2. Tạo VehicleEvent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3. Normalize plate text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4. Tạo PlateRead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5. Auto-create Account (100k VND)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6. decide_barrier() — 6 nhánh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7. Tạo BarrierAction + Transaction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Atomic: nếu 1 bước fail → rollback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3.1. PHÁT HIỆN PHƯƠNG TIỆN — YOLOv8 Nano</a:t>
            </a:r>
          </a:p>
        </p:txBody>
      </p:sp>
      <p:pic>
        <p:nvPicPr>
          <p:cNvPr id="3" name="Picture 2" descr="hinh-04-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943600" cy="65853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Model: YOLOv8 Nano (3.2M params, 6.3MB)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Input: Video frame (numpy array)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Output: Bounding box + score + class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Lọc 4 class COCO: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  • car, motorcycle, bus, truck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Confidence threshold: 0.5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File: vehicle_detector.py (61 dòng)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3.1. THEO DÕI ĐỐI TƯỢNG — SORT TRACKER</a:t>
            </a:r>
          </a:p>
        </p:txBody>
      </p:sp>
      <p:pic>
        <p:nvPicPr>
          <p:cNvPr id="3" name="Picture 2" descr="hinh-04-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943600" cy="65853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Thuật toán: SORT (Bewley et al., 2016)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Kalman Filter 7 chiều: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  [x, y, area, ratio, vx, vy, va]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Hungarian matching bằng IoU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Params: max_age=1, min_hits=3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Kết quả: Track ID ổn định qua frames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File: sort_tracker.py (244 dòng)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3.2. PHÁT HIỆN BIỂN SỐ — LP_DETECTOR</a:t>
            </a:r>
          </a:p>
        </p:txBody>
      </p:sp>
      <p:pic>
        <p:nvPicPr>
          <p:cNvPr id="3" name="Picture 2" descr="hinh-04-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943600" cy="65853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Calibri"/>
              </a:defRPr>
            </a:pPr>
            <a:r>
              <a:t>Benchmark 2 model (20 ảnh):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92024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  <a:gridCol w="9144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Tốc độ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LP_detector (YOLOv5) ← CHỌN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32ms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41MB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number_plate (YOLOv8)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48ms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50MB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0" y="3840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LP_detector nhanh hơn 33%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Nhẹ hơn 18%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File: plate_detector.py (82 dòng)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3.2. NHẬN DẠNG KÝ TỰ — OCR PIPELINE</a:t>
            </a:r>
          </a:p>
        </p:txBody>
      </p:sp>
      <p:pic>
        <p:nvPicPr>
          <p:cNvPr id="3" name="Picture 2" descr="hinh-04-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486400" cy="60787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Calibri"/>
              </a:defRPr>
            </a:pPr>
            <a:r>
              <a:t>Thuật toán 2-row clustering: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7373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1. Detect từng ký tự (YOLOv5 char-level)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2. Sort by Y → tìm gap lớn nhất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3. Gap &gt; 30% avg height → tách 2 hàng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4. Mỗi hàng sort L→R → nối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0C0"/>
                </a:solidFill>
                <a:latin typeface="Calibri"/>
              </a:defRPr>
            </a:pPr>
            <a:r>
              <a:t>Post-processing (MỚI):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206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Char mapping: O→0, I→1, S→5, B→8 (position-aware)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Regex validate: 4 patterns biển VN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33 unit tests pass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3.3. BACKEND API SERVER</a:t>
            </a:r>
          </a:p>
        </p:txBody>
      </p:sp>
      <p:pic>
        <p:nvPicPr>
          <p:cNvPr id="3" name="Picture 2" descr="hinh-08-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029200" cy="27215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188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Calibri"/>
              </a:defRPr>
            </a:pPr>
            <a:r>
              <a:t>FastAPI + SQLAlchemy + PostgreSQL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0" y="1828800"/>
          <a:ext cx="5943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Chức năng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/api/v1/events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Tạo event + barrier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/api/v1/events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Danh sách events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/api/v1/accounts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Quản lý tài khoản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/api/v1/stats/realtime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Thống kê realtime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/barrier-actions/verify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Xác minh barrier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... (18 endpoints)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0" y="53035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56/56 unit tests pass (1.48s)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11 files, 1,644 dòng Python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3.3. DASHBOARD GIÁM SÁT</a:t>
            </a:r>
          </a:p>
        </p:txBody>
      </p:sp>
      <p:pic>
        <p:nvPicPr>
          <p:cNvPr id="3" name="Picture 2" descr="hinh-09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3020857"/>
          </a:xfrm>
          <a:prstGeom prst="rect">
            <a:avLst/>
          </a:prstGeom>
        </p:spPr>
      </p:pic>
      <p:pic>
        <p:nvPicPr>
          <p:cNvPr id="4" name="Picture 3" descr="hinh-10-ac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30149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React + TypeScript (Vite) | 6 source files, 1,205 dòng | Realtime stats, Events, Accounts, Verify queue, Traffic stats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3.3. SNAPSHOT BIỂN SỐ (MỚI)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Khi detect biển số thành công → crop vùng biển số + padding 15%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Lưu PNG: {timestamp}_{plate}_{trackid}.png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Backend serve static files: /static/snapshots/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Dashboard hiển thị thumbnail (50×30px) bên cạnh event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Cấu hình qua env vars: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  • SNAPSHOT_DIR (default: snapshots/)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  • SNAPSHOT_PADDING (default: 0.15)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  • ENABLE_SNAPSHOT (default: true)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TÍCH HỢP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Docker Compose — 3 services: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  1. postgres:16  (database)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     Port 5432, volume persistent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  2. backend  (FastAPI)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     Port 8000, healthcheck, auto-migrate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  3. dashboard  (React + Vite)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     Port 5173, CORS enabled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E2E Data Flow: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  Video file / Camera IP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       ↓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  AI Engine (Python, local)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       ↓  POST /api/v1/events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  Backend :8000 (Docker)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       ↓  fetch API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  Dashboard :5173 (Browser)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4. BỘ DỮ LIỆU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22860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Số lượng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Mô tả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VNLP one_row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19,086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Biển 1 hàng (ô tô)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VNLP two_rows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12,618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Biển 2 hàng (ô tô)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VNLP xe_may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5,593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Biển 2 hàng (xe máy)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VNLP tổng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37,297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Video test (VN)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trungdinh22-demo.mp4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300 frames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600×800, 10fps, 30s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hinh-11-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486400" cy="69951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KẾT QUẢ PLATE DETECTION &amp; OCR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Plate Detection (20 ảnh):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02020"/>
                </a:solidFill>
                <a:latin typeface="Calibri"/>
              </a:defRPr>
            </a:pPr>
            <a:r>
              <a:t>100% detection rate — cả 2 model đều detect đúng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OCR Evaluation (3,731 ảnh test):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92608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4876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Kết quả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Detection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89.2% (3,327/3,731)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Exact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37.8% (1,257/3,327)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Char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53.8%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Avg confidence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0.835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Tốc độ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14.7 img/s (GPU)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0000"/>
                </a:solidFill>
                <a:latin typeface="Calibri"/>
              </a:defRPr>
            </a:pPr>
            <a:r>
              <a:t>Phân tích lỗi OCR: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Thừa/thiếu ký tự do detect nhầm hoặc miss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Nhầm ký tự tương tự: 0↔O, 1↔I, 5↔S, 8↔B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Biển mờ, nghiêng, che khuất một phần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→ Giải pháp: Post-processing (Phase mới)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  char mapping + regex validate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ĐÁNH GIÁ OCR TRÊN 3,731 ẢNH VNLP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Kết quả Full Evaluation (test split):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50 ảnh (cũ)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3,731 ảnh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Detection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96.0%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89.2%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Exact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37.8%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Char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51.0%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53.8%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Avg confidence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0.835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15.4 img/s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14.7 img/s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Valid VN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36.7%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0000"/>
                </a:solidFill>
                <a:latin typeface="Calibri"/>
              </a:defRPr>
            </a:pPr>
            <a:r>
              <a:t>Post-processing (char mapping):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Thử nghiệm: char mapping O↔0, I↔1, S↔5, B↔8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Kết quả: exact match GIẢM 37.8% → 32.7% (-5.1%)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Nguyên nhân: heuristic nhầm format biển 9 ký tự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  VD: 15B143850 → 15BI43850 (sửa sai '1'→'I')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→ Quyết định: TẮT char mapping mặc định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→ Giữ regex validate (không sửa, chỉ kiểm tra)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572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Phân loại lỗi OCR: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029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~35% thiếu ký tự | ~25% nhầm hình dáng | ~15% thừa ký tự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KẾT QUẢ E2E VIDEO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Calibri"/>
              </a:defRPr>
            </a:pPr>
            <a:r>
              <a:t>Lần 1 — 300 frames (toàn bộ video):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2 biển unique: 36H82613, 14K117970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23 raw → 2 unique events | FPS: 2.1 | 140s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Calibri"/>
              </a:defRPr>
            </a:pPr>
            <a:r>
              <a:t>Lần 2 — 101 frames (14/04/2026):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1 biển unique: 36H82613 (car, consistent)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6 raw → 2 unique events | FPS: 1.6 | 62.1s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Known Issues: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035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Duplicate events do SORT tạo track mới</a:t>
            </a:r>
          </a:p>
          <a:p>
            <a:pPr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FPS thấp trên CPU (1.6-2.1) — cần GPU</a:t>
            </a:r>
          </a:p>
        </p:txBody>
      </p:sp>
      <p:pic>
        <p:nvPicPr>
          <p:cNvPr id="9" name="Picture 8" descr="hinh-11-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486400" cy="69951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TỔNG HỢP KIỂM THỬ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10058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4114800"/>
              </a:tblGrid>
              <a:tr h="508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Hạng mục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Kết quả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Chi tiết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Backend Unit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56/56 pass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1.48s, pytest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OCR Post-process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33/33 pass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2.41s, pytest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API Smoke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5/5 pass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health, POST, GET events/accounts/stats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Dashboard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7/7 pass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events, stats, accounts, barrier, traffic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Barrier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8 cases pass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 nhánh quyết định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AI Engine → 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1/1 pass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Pipeline detect + send event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Dashboard Code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2 bugs fixed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Pagination + double-fetch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Known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1/3 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Duplicate events, FPS cần GPU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THỐNG KÊ SỐ LIỆU TỔNG HỢP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5029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Hạng mục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Số liệu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Tổng dòng code 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4,835+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Tổng dòng code 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1,205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API endpoints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Database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Unit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89 (100% pass)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AI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 files (138.3 MB)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Dataset VNLP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37,297 ảnh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Git commits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75+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Docker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280160"/>
          <a:ext cx="5029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65314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Kết quả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Plate detection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OCR exact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37.8% (3,731 ảnh)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OCR char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53.8% (3,731 ảnh)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E2E FPS (CPU)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1.6–2.1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Backend test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1.48s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OCR post-process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33/33 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5. KẾT QUẢ ĐẠT ĐƯỢC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✅  Pipeline E2E hoạt động: Video → AI Engine → Backend → Dashboard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✅  Nhận diện biển số VN 1 hàng + 2 hàng (YOLOv5 char-level + gap clustering)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✅  Backend 18 API endpoints + barrier rules 6 nhánh (56/56 tests pass)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✅  Dashboard realtime monitoring (React + TypeScript)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✅  OCR post-processing: char mapping + regex validate (33/33 tests pass)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✅  Snapshot crop biển số + hiển thị thumbnail trên dashboard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✅  Docker Compose deployment (3 services: postgres + backend + dashboard)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✅  Hướng dẫn chạy E2E chi tiết (7 files, hỗ trợ Linux/Mac + Windows)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HẠN CHẾ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⚠  OCR accuracy thấp: 33.3% exact match — cần cải thiện model + post-processing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⚠  FPS chậm trên CPU: 1.6-2.1 — chưa đáp ứng realtime, cần GPU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⚠  Chỉ test trên 1 video biển VN — cần thêm video đa dạng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⚠  Chưa full evaluation trên toàn bộ 37,297 ảnh VNLP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⚠  Dashboard chưa test toàn diện trên browser (code review OK, cần manual test)</a:t>
            </a:r>
          </a:p>
          <a:p>
            <a:pPr>
              <a:spcAft>
                <a:spcPts val="600"/>
              </a:spcAft>
              <a:defRPr sz="2000">
                <a:solidFill>
                  <a:srgbClr val="202020"/>
                </a:solidFill>
                <a:latin typeface="Calibri"/>
              </a:defRPr>
            </a:pPr>
            <a:r>
              <a:t>⚠  Duplicate events khi SORT tạo track mới cho cùng biển số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HƯỚNG PHÁT TRIỂN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8000"/>
                </a:solidFill>
                <a:latin typeface="Calibri"/>
              </a:defRPr>
            </a:pPr>
            <a:r>
              <a:t>Ngắn hạn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Full OCR eval (3,731+ ảnh)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Regex + char mapping nâng accuracy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Deduplicate by plate_text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Test dashboard trên browser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0C0"/>
                </a:solidFill>
                <a:latin typeface="Calibri"/>
              </a:defRPr>
            </a:pPr>
            <a:r>
              <a:t>Trung hạn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7373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GPU acceleration (10-15 FPS)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Nhiều camera đồng thời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WebSocket realtime push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Cải thiện OCR: deblur, augment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Calibri"/>
              </a:defRPr>
            </a:pPr>
            <a:r>
              <a:t>Dài hạn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7373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Edge deploy (Jetson Nano)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Quản lý đăng ký phương tiện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Cảnh báo thông minh</a:t>
            </a:r>
          </a:p>
          <a:p>
            <a:pPr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Perspective correction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CẢM ƠN THẦY/CÔ ĐÃ LẮNG NGHE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CCEE"/>
                </a:solidFill>
                <a:latin typeface="Calibri"/>
              </a:defRPr>
            </a:pPr>
            <a:r>
              <a:t>Mã nguồn: github.com/ukelele0718/bienso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CCEE"/>
                </a:solidFill>
                <a:latin typeface="Calibri"/>
              </a:defRPr>
            </a:pPr>
            <a:r>
              <a:t>Hà Văn Quang — 20210718  |  Nguyễn Hữu Cần — 20223882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